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77724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 u="sng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 u="sng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 u="sng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 u="sng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511932" y="889761"/>
            <a:ext cx="2748534" cy="4210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 u="sng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642616" y="9354312"/>
            <a:ext cx="2487168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5.xml"/><Relationship Id="rId4" Type="http://schemas.openxmlformats.org/officeDocument/2006/relationships/image" Target="../media/image8.jpeg"/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jpeg"/><Relationship Id="rId1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image" Target="../media/image12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88747" y="696007"/>
            <a:ext cx="2031979" cy="203884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36441" y="251459"/>
            <a:ext cx="2875915" cy="3017520"/>
          </a:xfrm>
          <a:prstGeom prst="rect">
            <a:avLst/>
          </a:prstGeom>
          <a:solidFill>
            <a:srgbClr val="44536A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1885"/>
              </a:spcBef>
            </a:pP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250190" marR="244475" algn="ctr">
              <a:lnSpc>
                <a:spcPct val="109000"/>
              </a:lnSpc>
            </a:pPr>
            <a:r>
              <a:rPr sz="2400" b="0" u="none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National</a:t>
            </a:r>
            <a:r>
              <a:rPr sz="2400" b="0" u="none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b="0" u="none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University </a:t>
            </a:r>
            <a:r>
              <a:rPr sz="2400" b="0" u="none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2400" b="0" u="none" spc="-6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b="0" u="none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Sciences</a:t>
            </a:r>
            <a:r>
              <a:rPr sz="2400" b="0" u="none" spc="-8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b="0" u="none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and </a:t>
            </a:r>
            <a:r>
              <a:rPr sz="2400" b="0" u="none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Technology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19855" y="251459"/>
            <a:ext cx="3108960" cy="4589145"/>
          </a:xfrm>
          <a:prstGeom prst="rect">
            <a:avLst/>
          </a:prstGeom>
          <a:ln w="15875">
            <a:solidFill>
              <a:srgbClr val="76707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6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36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36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36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36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1050"/>
              </a:spcBef>
            </a:pPr>
            <a:endParaRPr sz="3600">
              <a:latin typeface="Times New Roman" panose="02020603050405020304"/>
              <a:cs typeface="Times New Roman" panose="02020603050405020304"/>
            </a:endParaRPr>
          </a:p>
          <a:p>
            <a:pPr marL="211455" marR="521335">
              <a:lnSpc>
                <a:spcPct val="102000"/>
              </a:lnSpc>
              <a:spcBef>
                <a:spcPts val="5"/>
              </a:spcBef>
            </a:pPr>
            <a:r>
              <a:rPr lang="en-US" altLang="" sz="3600">
                <a:latin typeface="Calibri Light" panose="020F0302020204030204"/>
                <a:cs typeface="Calibri Light" panose="020F0302020204030204"/>
              </a:rPr>
              <a:t>Ansys Workbench </a:t>
            </a:r>
            <a:endParaRPr lang="en-US" altLang="" sz="3600">
              <a:latin typeface="Calibri Light" panose="020F0302020204030204"/>
              <a:cs typeface="Calibri Light" panose="020F0302020204030204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536441" y="6940295"/>
            <a:ext cx="2875915" cy="118745"/>
          </a:xfrm>
          <a:custGeom>
            <a:avLst/>
            <a:gdLst/>
            <a:ahLst/>
            <a:cxnLst/>
            <a:rect l="l" t="t" r="r" b="b"/>
            <a:pathLst>
              <a:path w="2875915" h="118745">
                <a:moveTo>
                  <a:pt x="2875915" y="0"/>
                </a:moveTo>
                <a:lnTo>
                  <a:pt x="0" y="0"/>
                </a:lnTo>
                <a:lnTo>
                  <a:pt x="0" y="118744"/>
                </a:lnTo>
                <a:lnTo>
                  <a:pt x="2875915" y="118744"/>
                </a:lnTo>
                <a:lnTo>
                  <a:pt x="2875915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676650" y="4838446"/>
            <a:ext cx="2354580" cy="191452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97790">
              <a:lnSpc>
                <a:spcPct val="100000"/>
              </a:lnSpc>
              <a:spcBef>
                <a:spcPts val="330"/>
              </a:spcBef>
            </a:pPr>
            <a:r>
              <a:rPr sz="1400" b="1" dirty="0">
                <a:latin typeface="Calibri" panose="020F0502020204030204"/>
                <a:cs typeface="Calibri" panose="020F0502020204030204"/>
              </a:rPr>
              <a:t>Zohaib</a:t>
            </a:r>
            <a:r>
              <a:rPr sz="1400" b="1" spc="-75" dirty="0"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25" dirty="0">
                <a:latin typeface="Calibri" panose="020F0502020204030204"/>
                <a:cs typeface="Calibri" panose="020F0502020204030204"/>
              </a:rPr>
              <a:t>Ali</a:t>
            </a:r>
            <a:endParaRPr sz="1400">
              <a:latin typeface="Calibri" panose="020F0502020204030204"/>
              <a:cs typeface="Calibri" panose="020F0502020204030204"/>
            </a:endParaRPr>
          </a:p>
          <a:p>
            <a:pPr marL="97790">
              <a:lnSpc>
                <a:spcPct val="100000"/>
              </a:lnSpc>
              <a:spcBef>
                <a:spcPts val="960"/>
              </a:spcBef>
            </a:pPr>
            <a:r>
              <a:rPr sz="1400" b="1" spc="-10" dirty="0">
                <a:latin typeface="Calibri" panose="020F0502020204030204"/>
                <a:cs typeface="Calibri" panose="020F0502020204030204"/>
              </a:rPr>
              <a:t>ME-</a:t>
            </a:r>
            <a:r>
              <a:rPr sz="1400" b="1" spc="-20" dirty="0">
                <a:latin typeface="Calibri" panose="020F0502020204030204"/>
                <a:cs typeface="Calibri" panose="020F0502020204030204"/>
              </a:rPr>
              <a:t>1915</a:t>
            </a:r>
            <a:endParaRPr sz="1400">
              <a:latin typeface="Calibri" panose="020F0502020204030204"/>
              <a:cs typeface="Calibri" panose="020F0502020204030204"/>
            </a:endParaRPr>
          </a:p>
          <a:p>
            <a:pPr marL="97790" marR="1336675">
              <a:lnSpc>
                <a:spcPts val="2640"/>
              </a:lnSpc>
              <a:spcBef>
                <a:spcPts val="245"/>
              </a:spcBef>
            </a:pPr>
            <a:r>
              <a:rPr sz="1400" b="1" dirty="0">
                <a:latin typeface="Calibri" panose="020F0502020204030204"/>
                <a:cs typeface="Calibri" panose="020F0502020204030204"/>
              </a:rPr>
              <a:t>Section</a:t>
            </a:r>
            <a:r>
              <a:rPr sz="1400" b="1" spc="-50" dirty="0">
                <a:latin typeface="Calibri" panose="020F0502020204030204"/>
                <a:cs typeface="Calibri" panose="020F0502020204030204"/>
              </a:rPr>
              <a:t> A </a:t>
            </a:r>
            <a:r>
              <a:rPr sz="1400" b="1" dirty="0">
                <a:latin typeface="Calibri" panose="020F0502020204030204"/>
                <a:cs typeface="Calibri" panose="020F0502020204030204"/>
              </a:rPr>
              <a:t>CMS</a:t>
            </a:r>
            <a:r>
              <a:rPr sz="1400" b="1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10" dirty="0">
                <a:latin typeface="Calibri" panose="020F0502020204030204"/>
                <a:cs typeface="Calibri" panose="020F0502020204030204"/>
              </a:rPr>
              <a:t>426042</a:t>
            </a:r>
            <a:endParaRPr sz="1400">
              <a:latin typeface="Calibri" panose="020F0502020204030204"/>
              <a:cs typeface="Calibri" panose="020F0502020204030204"/>
            </a:endParaRPr>
          </a:p>
          <a:p>
            <a:pPr marL="97790">
              <a:lnSpc>
                <a:spcPct val="100000"/>
              </a:lnSpc>
              <a:spcBef>
                <a:spcPts val="740"/>
              </a:spcBef>
            </a:pPr>
            <a:r>
              <a:rPr sz="1400" b="1" dirty="0">
                <a:latin typeface="Calibri" panose="020F0502020204030204"/>
                <a:cs typeface="Calibri" panose="020F0502020204030204"/>
              </a:rPr>
              <a:t>Instructor</a:t>
            </a:r>
            <a:r>
              <a:rPr sz="1400" b="1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latin typeface="Calibri" panose="020F0502020204030204"/>
                <a:cs typeface="Calibri" panose="020F0502020204030204"/>
              </a:rPr>
              <a:t>Engineer</a:t>
            </a:r>
            <a:r>
              <a:rPr sz="1400" b="1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latin typeface="Calibri" panose="020F0502020204030204"/>
                <a:cs typeface="Calibri" panose="020F0502020204030204"/>
              </a:rPr>
              <a:t>Sir</a:t>
            </a:r>
            <a:r>
              <a:rPr sz="1400" b="1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20" dirty="0">
                <a:latin typeface="Calibri" panose="020F0502020204030204"/>
                <a:cs typeface="Calibri" panose="020F0502020204030204"/>
              </a:rPr>
              <a:t>Affan</a:t>
            </a:r>
            <a:endParaRPr sz="14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4724400" y="6551548"/>
            <a:ext cx="1999615" cy="185293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52975" y="4234688"/>
            <a:ext cx="2001520" cy="189509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74320">
              <a:lnSpc>
                <a:spcPct val="100000"/>
              </a:lnSpc>
              <a:spcBef>
                <a:spcPts val="90"/>
              </a:spcBef>
            </a:pPr>
            <a:r>
              <a:rPr dirty="0"/>
              <a:t>Static</a:t>
            </a:r>
            <a:r>
              <a:rPr spc="-95" dirty="0"/>
              <a:t> </a:t>
            </a:r>
            <a:r>
              <a:rPr spc="-10" dirty="0"/>
              <a:t>Structural</a:t>
            </a:r>
            <a:endParaRPr spc="-10" dirty="0"/>
          </a:p>
        </p:txBody>
      </p:sp>
      <p:sp>
        <p:nvSpPr>
          <p:cNvPr id="5" name="object 5"/>
          <p:cNvSpPr txBox="1"/>
          <p:nvPr/>
        </p:nvSpPr>
        <p:spPr>
          <a:xfrm>
            <a:off x="1105204" y="1878305"/>
            <a:ext cx="2762885" cy="72644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266700" indent="-228600">
              <a:lnSpc>
                <a:spcPct val="100000"/>
              </a:lnSpc>
              <a:spcBef>
                <a:spcPts val="240"/>
              </a:spcBef>
              <a:buSzPct val="127000"/>
              <a:buFont typeface="Wingdings" panose="05000000000000000000"/>
              <a:buChar char=""/>
              <a:tabLst>
                <a:tab pos="266700" algn="l"/>
              </a:tabLst>
            </a:pPr>
            <a:r>
              <a:rPr sz="1100" dirty="0">
                <a:latin typeface="Calibri" panose="020F0502020204030204"/>
                <a:cs typeface="Calibri" panose="020F0502020204030204"/>
              </a:rPr>
              <a:t>A</a:t>
            </a:r>
            <a:r>
              <a:rPr sz="11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dirty="0">
                <a:latin typeface="Calibri" panose="020F0502020204030204"/>
                <a:cs typeface="Calibri" panose="020F0502020204030204"/>
              </a:rPr>
              <a:t>new</a:t>
            </a:r>
            <a:r>
              <a:rPr sz="11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dirty="0">
                <a:latin typeface="Calibri" panose="020F0502020204030204"/>
                <a:cs typeface="Calibri" panose="020F0502020204030204"/>
              </a:rPr>
              <a:t>material</a:t>
            </a:r>
            <a:r>
              <a:rPr sz="11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dirty="0">
                <a:latin typeface="Calibri" panose="020F0502020204030204"/>
                <a:cs typeface="Calibri" panose="020F0502020204030204"/>
              </a:rPr>
              <a:t>named</a:t>
            </a:r>
            <a:r>
              <a:rPr sz="11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b="1" dirty="0">
                <a:latin typeface="Calibri" panose="020F0502020204030204"/>
                <a:cs typeface="Calibri" panose="020F0502020204030204"/>
              </a:rPr>
              <a:t>"Zohaib</a:t>
            </a:r>
            <a:r>
              <a:rPr sz="11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b="1" spc="-10" dirty="0">
                <a:latin typeface="Calibri" panose="020F0502020204030204"/>
                <a:cs typeface="Calibri" panose="020F0502020204030204"/>
              </a:rPr>
              <a:t>Hexagon"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266700" indent="-228600">
              <a:lnSpc>
                <a:spcPts val="1430"/>
              </a:lnSpc>
              <a:spcBef>
                <a:spcPts val="1250"/>
              </a:spcBef>
              <a:buSzPct val="83000"/>
              <a:buFont typeface="Symbol" panose="05050102010706020507"/>
              <a:buChar char=""/>
              <a:tabLst>
                <a:tab pos="266700" algn="l"/>
              </a:tabLst>
            </a:pPr>
            <a:r>
              <a:rPr sz="1200" b="1" dirty="0">
                <a:latin typeface="Times New Roman" panose="02020603050405020304"/>
                <a:cs typeface="Times New Roman" panose="02020603050405020304"/>
              </a:rPr>
              <a:t>Young's</a:t>
            </a:r>
            <a:r>
              <a:rPr sz="1200" b="1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Modulus: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15000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MPa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266700" indent="-228600">
              <a:lnSpc>
                <a:spcPts val="1430"/>
              </a:lnSpc>
              <a:buSzPct val="83000"/>
              <a:buFont typeface="Symbol" panose="05050102010706020507"/>
              <a:buChar char=""/>
              <a:tabLst>
                <a:tab pos="266700" algn="l"/>
              </a:tabLst>
            </a:pPr>
            <a:r>
              <a:rPr sz="1200" b="1" dirty="0">
                <a:latin typeface="Times New Roman" panose="02020603050405020304"/>
                <a:cs typeface="Times New Roman" panose="02020603050405020304"/>
              </a:rPr>
              <a:t>Poisson's</a:t>
            </a:r>
            <a:r>
              <a:rPr sz="1200" b="1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Ratio:</a:t>
            </a:r>
            <a:r>
              <a:rPr sz="1200" b="1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0.28</a:t>
            </a:r>
            <a:endParaRPr sz="12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30604" y="4402073"/>
            <a:ext cx="3417570" cy="4413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SzPct val="127000"/>
              <a:buFont typeface="Wingdings" panose="05000000000000000000"/>
              <a:buChar char=""/>
              <a:tabLst>
                <a:tab pos="241300" algn="l"/>
              </a:tabLst>
            </a:pPr>
            <a:r>
              <a:rPr lang="en-US" altLang="" sz="1100" b="1" dirty="0">
                <a:latin typeface="Calibri" panose="020F0502020204030204"/>
                <a:cs typeface="Calibri" panose="020F0502020204030204"/>
              </a:rPr>
              <a:t>E</a:t>
            </a:r>
            <a:r>
              <a:rPr sz="1100" b="1" dirty="0">
                <a:latin typeface="Calibri" panose="020F0502020204030204"/>
                <a:cs typeface="Calibri" panose="020F0502020204030204"/>
              </a:rPr>
              <a:t>xtruded</a:t>
            </a:r>
            <a:r>
              <a:rPr sz="11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b="1" dirty="0">
                <a:latin typeface="Calibri" panose="020F0502020204030204"/>
                <a:cs typeface="Calibri" panose="020F0502020204030204"/>
              </a:rPr>
              <a:t>by</a:t>
            </a:r>
            <a:r>
              <a:rPr sz="11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b="1" dirty="0">
                <a:latin typeface="Calibri" panose="020F0502020204030204"/>
                <a:cs typeface="Calibri" panose="020F0502020204030204"/>
              </a:rPr>
              <a:t>3</a:t>
            </a:r>
            <a:r>
              <a:rPr sz="1100" b="1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b="1" dirty="0">
                <a:latin typeface="Calibri" panose="020F0502020204030204"/>
                <a:cs typeface="Calibri" panose="020F0502020204030204"/>
              </a:rPr>
              <a:t>meters</a:t>
            </a:r>
            <a:r>
              <a:rPr sz="1100" b="1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spc="-25" dirty="0">
                <a:latin typeface="Calibri" panose="020F0502020204030204"/>
                <a:cs typeface="Calibri" panose="020F0502020204030204"/>
              </a:rPr>
              <a:t>to</a:t>
            </a:r>
            <a:endParaRPr sz="1100">
              <a:latin typeface="Calibri" panose="020F0502020204030204"/>
              <a:cs typeface="Calibri" panose="020F0502020204030204"/>
            </a:endParaRPr>
          </a:p>
          <a:p>
            <a:pPr marL="241300">
              <a:lnSpc>
                <a:spcPct val="100000"/>
              </a:lnSpc>
              <a:spcBef>
                <a:spcPts val="700"/>
              </a:spcBef>
            </a:pPr>
            <a:r>
              <a:rPr sz="1100" dirty="0">
                <a:latin typeface="Calibri" panose="020F0502020204030204"/>
                <a:cs typeface="Calibri" panose="020F0502020204030204"/>
              </a:rPr>
              <a:t>create</a:t>
            </a:r>
            <a:r>
              <a:rPr sz="11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dirty="0">
                <a:latin typeface="Calibri" panose="020F0502020204030204"/>
                <a:cs typeface="Calibri" panose="020F0502020204030204"/>
              </a:rPr>
              <a:t>a</a:t>
            </a:r>
            <a:r>
              <a:rPr sz="11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dirty="0">
                <a:latin typeface="Calibri" panose="020F0502020204030204"/>
                <a:cs typeface="Calibri" panose="020F0502020204030204"/>
              </a:rPr>
              <a:t>3D</a:t>
            </a:r>
            <a:r>
              <a:rPr sz="11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dirty="0">
                <a:latin typeface="Calibri" panose="020F0502020204030204"/>
                <a:cs typeface="Calibri" panose="020F0502020204030204"/>
              </a:rPr>
              <a:t>hexagonal</a:t>
            </a:r>
            <a:r>
              <a:rPr sz="11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spc="-20" dirty="0">
                <a:latin typeface="Calibri" panose="020F0502020204030204"/>
                <a:cs typeface="Calibri" panose="020F0502020204030204"/>
              </a:rPr>
              <a:t>prism</a:t>
            </a:r>
            <a:endParaRPr sz="11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30604" y="6560566"/>
            <a:ext cx="3332479" cy="4984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SzPct val="127000"/>
              <a:buFont typeface="Wingdings" panose="05000000000000000000"/>
              <a:buChar char=""/>
              <a:tabLst>
                <a:tab pos="241300" algn="l"/>
              </a:tabLst>
            </a:pPr>
            <a:r>
              <a:rPr sz="1100" dirty="0">
                <a:latin typeface="Calibri" panose="020F0502020204030204"/>
                <a:cs typeface="Calibri" panose="020F0502020204030204"/>
              </a:rPr>
              <a:t>An</a:t>
            </a:r>
            <a:r>
              <a:rPr sz="11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b="1" spc="-10" dirty="0">
                <a:latin typeface="Calibri" panose="020F0502020204030204"/>
                <a:cs typeface="Calibri" panose="020F0502020204030204"/>
              </a:rPr>
              <a:t>automatic</a:t>
            </a:r>
            <a:r>
              <a:rPr sz="11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b="1" dirty="0">
                <a:latin typeface="Calibri" panose="020F0502020204030204"/>
                <a:cs typeface="Calibri" panose="020F0502020204030204"/>
              </a:rPr>
              <a:t>mesh</a:t>
            </a:r>
            <a:r>
              <a:rPr sz="1100" b="1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dirty="0">
                <a:latin typeface="Calibri" panose="020F0502020204030204"/>
                <a:cs typeface="Calibri" panose="020F0502020204030204"/>
              </a:rPr>
              <a:t>was</a:t>
            </a:r>
            <a:r>
              <a:rPr sz="11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dirty="0">
                <a:latin typeface="Calibri" panose="020F0502020204030204"/>
                <a:cs typeface="Calibri" panose="020F0502020204030204"/>
              </a:rPr>
              <a:t>applied</a:t>
            </a:r>
            <a:r>
              <a:rPr sz="11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dirty="0">
                <a:latin typeface="Calibri" panose="020F0502020204030204"/>
                <a:cs typeface="Calibri" panose="020F0502020204030204"/>
              </a:rPr>
              <a:t>to</a:t>
            </a:r>
            <a:r>
              <a:rPr sz="11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dirty="0">
                <a:latin typeface="Calibri" panose="020F0502020204030204"/>
                <a:cs typeface="Calibri" panose="020F0502020204030204"/>
              </a:rPr>
              <a:t>the</a:t>
            </a:r>
            <a:r>
              <a:rPr sz="11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dirty="0">
                <a:latin typeface="Calibri" panose="020F0502020204030204"/>
                <a:cs typeface="Calibri" panose="020F0502020204030204"/>
              </a:rPr>
              <a:t>3D</a:t>
            </a:r>
            <a:r>
              <a:rPr sz="11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dirty="0">
                <a:latin typeface="Calibri" panose="020F0502020204030204"/>
                <a:cs typeface="Calibri" panose="020F0502020204030204"/>
              </a:rPr>
              <a:t>structure</a:t>
            </a:r>
            <a:r>
              <a:rPr sz="11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spc="-25" dirty="0">
                <a:latin typeface="Calibri" panose="020F0502020204030204"/>
                <a:cs typeface="Calibri" panose="020F0502020204030204"/>
              </a:rPr>
              <a:t>in</a:t>
            </a:r>
            <a:endParaRPr sz="1100">
              <a:latin typeface="Calibri" panose="020F0502020204030204"/>
              <a:cs typeface="Calibri" panose="020F0502020204030204"/>
            </a:endParaRPr>
          </a:p>
          <a:p>
            <a:pPr marL="241300" marR="223520">
              <a:lnSpc>
                <a:spcPts val="2260"/>
              </a:lnSpc>
              <a:spcBef>
                <a:spcPts val="205"/>
              </a:spcBef>
            </a:pPr>
            <a:r>
              <a:rPr sz="1100" dirty="0">
                <a:latin typeface="Calibri" panose="020F0502020204030204"/>
                <a:cs typeface="Calibri" panose="020F0502020204030204"/>
              </a:rPr>
              <a:t>th</a:t>
            </a:r>
            <a:r>
              <a:rPr lang="en-US" altLang="" sz="1100" dirty="0">
                <a:latin typeface="Calibri" panose="020F0502020204030204"/>
                <a:cs typeface="Calibri" panose="020F0502020204030204"/>
              </a:rPr>
              <a:t>e Model analysis</a:t>
            </a:r>
            <a:endParaRPr lang="en-US" altLang="" sz="1100" dirty="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71925" y="1614805"/>
            <a:ext cx="3300095" cy="22764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858259" y="2772029"/>
            <a:ext cx="3247136" cy="175133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29100" y="5345938"/>
            <a:ext cx="3272790" cy="187642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10075" y="7560881"/>
            <a:ext cx="3028442" cy="174942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30604" y="892809"/>
            <a:ext cx="5623560" cy="11010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SzPct val="104000"/>
              <a:buFont typeface="Wingdings" panose="05000000000000000000"/>
              <a:buChar char=""/>
              <a:tabLst>
                <a:tab pos="241300" algn="l"/>
              </a:tabLst>
            </a:pPr>
            <a:r>
              <a:rPr sz="1350" b="1" dirty="0">
                <a:latin typeface="Times New Roman" panose="02020603050405020304"/>
                <a:cs typeface="Times New Roman" panose="02020603050405020304"/>
              </a:rPr>
              <a:t>Boundary</a:t>
            </a:r>
            <a:r>
              <a:rPr sz="1350" b="1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50" b="1" dirty="0">
                <a:latin typeface="Times New Roman" panose="02020603050405020304"/>
                <a:cs typeface="Times New Roman" panose="02020603050405020304"/>
              </a:rPr>
              <a:t>Conditions</a:t>
            </a:r>
            <a:r>
              <a:rPr sz="1350" b="1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50" b="1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350" b="1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50" b="1" spc="-10" dirty="0">
                <a:latin typeface="Times New Roman" panose="02020603050405020304"/>
                <a:cs typeface="Times New Roman" panose="02020603050405020304"/>
              </a:rPr>
              <a:t>Loading</a:t>
            </a:r>
            <a:endParaRPr sz="1350">
              <a:latin typeface="Times New Roman" panose="02020603050405020304"/>
              <a:cs typeface="Times New Roman" panose="02020603050405020304"/>
            </a:endParaRPr>
          </a:p>
          <a:p>
            <a:pPr marL="241300" marR="307340" indent="-229235">
              <a:lnSpc>
                <a:spcPct val="96000"/>
              </a:lnSpc>
              <a:spcBef>
                <a:spcPts val="1345"/>
              </a:spcBef>
              <a:buSzPct val="83000"/>
              <a:buFont typeface="Symbol" panose="05050102010706020507"/>
              <a:buChar char=""/>
              <a:tabLst>
                <a:tab pos="241300" algn="l"/>
              </a:tabLst>
            </a:pPr>
            <a:r>
              <a:rPr sz="1200" b="1" dirty="0">
                <a:latin typeface="Times New Roman" panose="02020603050405020304"/>
                <a:cs typeface="Times New Roman" panose="02020603050405020304"/>
              </a:rPr>
              <a:t>Fixed</a:t>
            </a:r>
            <a:r>
              <a:rPr sz="1200" b="1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Support:</a:t>
            </a:r>
            <a:r>
              <a:rPr sz="1200" b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One face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2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hexagonal</a:t>
            </a:r>
            <a:r>
              <a:rPr sz="12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geometry</a:t>
            </a:r>
            <a:r>
              <a:rPr sz="12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was</a:t>
            </a:r>
            <a:r>
              <a:rPr sz="12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constrained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with</a:t>
            </a:r>
            <a:r>
              <a:rPr sz="12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12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spc="-10" dirty="0">
                <a:latin typeface="Times New Roman" panose="02020603050405020304"/>
                <a:cs typeface="Times New Roman" panose="02020603050405020304"/>
              </a:rPr>
              <a:t>Fixed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Support</a:t>
            </a:r>
            <a:r>
              <a:rPr lang="en-US" altLang="" sz="1200" b="1" dirty="0">
                <a:latin typeface="Times New Roman" panose="02020603050405020304"/>
                <a:cs typeface="Times New Roman" panose="02020603050405020304"/>
              </a:rPr>
              <a:t>.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241300" marR="5080" indent="-229235">
              <a:lnSpc>
                <a:spcPct val="96000"/>
              </a:lnSpc>
              <a:spcBef>
                <a:spcPts val="10"/>
              </a:spcBef>
              <a:buSzPct val="83000"/>
              <a:buFont typeface="Symbol" panose="05050102010706020507"/>
              <a:buChar char=""/>
              <a:tabLst>
                <a:tab pos="241300" algn="l"/>
              </a:tabLst>
            </a:pPr>
            <a:r>
              <a:rPr sz="1200" b="1" dirty="0">
                <a:latin typeface="Times New Roman" panose="02020603050405020304"/>
                <a:cs typeface="Times New Roman" panose="02020603050405020304"/>
              </a:rPr>
              <a:t>Remote</a:t>
            </a:r>
            <a:r>
              <a:rPr sz="1200" b="1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Force</a:t>
            </a:r>
            <a:r>
              <a:rPr sz="1200" b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Application:</a:t>
            </a:r>
            <a:r>
              <a:rPr sz="12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12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Remote</a:t>
            </a:r>
            <a:r>
              <a:rPr sz="1200" b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Force</a:t>
            </a:r>
            <a:r>
              <a:rPr sz="1200" b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2011</a:t>
            </a:r>
            <a:r>
              <a:rPr sz="1200" b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1200" b="1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was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applied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12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other,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opposite</a:t>
            </a:r>
            <a:r>
              <a:rPr sz="12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fac</a:t>
            </a:r>
            <a:r>
              <a:rPr lang="en-US" altLang="" sz="1200" dirty="0">
                <a:latin typeface="Times New Roman" panose="02020603050405020304"/>
                <a:cs typeface="Times New Roman" panose="02020603050405020304"/>
              </a:rPr>
              <a:t>e. </a:t>
            </a:r>
            <a:endParaRPr lang="en-US" altLang="" sz="1200" spc="-1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30604" y="5532881"/>
            <a:ext cx="2232025" cy="605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9235">
              <a:lnSpc>
                <a:spcPct val="159000"/>
              </a:lnSpc>
              <a:spcBef>
                <a:spcPts val="100"/>
              </a:spcBef>
              <a:buSzPct val="117000"/>
              <a:buFont typeface="Wingdings" panose="05000000000000000000"/>
              <a:buChar char=""/>
              <a:tabLst>
                <a:tab pos="241300" algn="l"/>
              </a:tabLst>
            </a:pPr>
            <a:r>
              <a:rPr sz="12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2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total</a:t>
            </a:r>
            <a:r>
              <a:rPr sz="1200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displacement</a:t>
            </a:r>
            <a:r>
              <a:rPr sz="12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field</a:t>
            </a:r>
            <a:r>
              <a:rPr sz="12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was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calculated</a:t>
            </a:r>
            <a:r>
              <a:rPr sz="12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2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visualized.</a:t>
            </a:r>
            <a:endParaRPr sz="12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30604" y="7548498"/>
            <a:ext cx="3183890" cy="57658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240665" marR="5080" indent="-228600">
              <a:lnSpc>
                <a:spcPct val="103000"/>
              </a:lnSpc>
              <a:spcBef>
                <a:spcPts val="60"/>
              </a:spcBef>
              <a:buSzPct val="117000"/>
              <a:buFont typeface="Wingdings" panose="05000000000000000000"/>
              <a:buChar char=""/>
              <a:tabLst>
                <a:tab pos="280670" algn="l"/>
              </a:tabLst>
            </a:pPr>
            <a:r>
              <a:rPr sz="1200" b="1" dirty="0">
                <a:latin typeface="Times New Roman" panose="02020603050405020304"/>
                <a:cs typeface="Times New Roman" panose="02020603050405020304"/>
              </a:rPr>
              <a:t>Equivalent</a:t>
            </a:r>
            <a:r>
              <a:rPr sz="1200" b="1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spc="-10" dirty="0">
                <a:latin typeface="Times New Roman" panose="02020603050405020304"/>
                <a:cs typeface="Times New Roman" panose="02020603050405020304"/>
              </a:rPr>
              <a:t>(von-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Mises)</a:t>
            </a:r>
            <a:r>
              <a:rPr sz="1200" b="1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Stress:</a:t>
            </a:r>
            <a:r>
              <a:rPr sz="1200" b="1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200" spc="5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5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equivalent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stress</a:t>
            </a:r>
            <a:r>
              <a:rPr sz="12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was</a:t>
            </a:r>
            <a:r>
              <a:rPr sz="12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calculated</a:t>
            </a:r>
            <a:r>
              <a:rPr sz="12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2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visualized,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with</a:t>
            </a:r>
            <a:r>
              <a:rPr sz="12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a maximum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value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2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0.0001203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MPa.</a:t>
            </a:r>
            <a:endParaRPr sz="120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90550" y="2772029"/>
            <a:ext cx="3209925" cy="175831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300" y="1780540"/>
            <a:ext cx="6182360" cy="56832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241300" marR="5080" indent="-229235">
              <a:lnSpc>
                <a:spcPct val="110000"/>
              </a:lnSpc>
              <a:spcBef>
                <a:spcPts val="85"/>
              </a:spcBef>
              <a:buSzPct val="127000"/>
              <a:buFont typeface="Wingdings" panose="05000000000000000000"/>
              <a:buChar char=""/>
              <a:tabLst>
                <a:tab pos="241300" algn="l"/>
              </a:tabLst>
            </a:pPr>
            <a:r>
              <a:rPr sz="1100" b="1" dirty="0">
                <a:latin typeface="Calibri" panose="020F0502020204030204"/>
                <a:cs typeface="Calibri" panose="020F0502020204030204"/>
              </a:rPr>
              <a:t>Mesh</a:t>
            </a:r>
            <a:r>
              <a:rPr sz="1100" b="1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b="1" dirty="0">
                <a:latin typeface="Calibri" panose="020F0502020204030204"/>
                <a:cs typeface="Calibri" panose="020F0502020204030204"/>
              </a:rPr>
              <a:t>Convergence:</a:t>
            </a:r>
            <a:r>
              <a:rPr sz="1100" b="1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dirty="0">
                <a:latin typeface="Calibri" panose="020F0502020204030204"/>
                <a:cs typeface="Calibri" panose="020F0502020204030204"/>
              </a:rPr>
              <a:t>A</a:t>
            </a:r>
            <a:r>
              <a:rPr sz="11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b="1" spc="-10" dirty="0">
                <a:latin typeface="Calibri" panose="020F0502020204030204"/>
                <a:cs typeface="Calibri" panose="020F0502020204030204"/>
              </a:rPr>
              <a:t>Convergence History </a:t>
            </a:r>
            <a:r>
              <a:rPr sz="1100" b="1" dirty="0">
                <a:latin typeface="Calibri" panose="020F0502020204030204"/>
                <a:cs typeface="Calibri" panose="020F0502020204030204"/>
              </a:rPr>
              <a:t>Graph</a:t>
            </a:r>
            <a:r>
              <a:rPr sz="11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dirty="0">
                <a:latin typeface="Calibri" panose="020F0502020204030204"/>
                <a:cs typeface="Calibri" panose="020F0502020204030204"/>
              </a:rPr>
              <a:t>generated.</a:t>
            </a:r>
            <a:r>
              <a:rPr sz="11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dirty="0">
                <a:latin typeface="Calibri" panose="020F0502020204030204"/>
                <a:cs typeface="Calibri" panose="020F0502020204030204"/>
              </a:rPr>
              <a:t>This</a:t>
            </a:r>
            <a:r>
              <a:rPr sz="11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dirty="0">
                <a:latin typeface="Calibri" panose="020F0502020204030204"/>
                <a:cs typeface="Calibri" panose="020F0502020204030204"/>
              </a:rPr>
              <a:t>plot</a:t>
            </a:r>
            <a:r>
              <a:rPr sz="11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dirty="0">
                <a:latin typeface="Calibri" panose="020F0502020204030204"/>
                <a:cs typeface="Calibri" panose="020F0502020204030204"/>
              </a:rPr>
              <a:t>of</a:t>
            </a:r>
            <a:r>
              <a:rPr sz="11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spc="-20" dirty="0">
                <a:latin typeface="Calibri" panose="020F0502020204030204"/>
                <a:cs typeface="Calibri" panose="020F0502020204030204"/>
              </a:rPr>
              <a:t>Total </a:t>
            </a:r>
            <a:r>
              <a:rPr sz="1100" dirty="0">
                <a:latin typeface="Calibri" panose="020F0502020204030204"/>
                <a:cs typeface="Calibri" panose="020F0502020204030204"/>
              </a:rPr>
              <a:t>Deformation</a:t>
            </a:r>
            <a:r>
              <a:rPr sz="11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dirty="0">
                <a:latin typeface="Calibri" panose="020F0502020204030204"/>
                <a:cs typeface="Calibri" panose="020F0502020204030204"/>
              </a:rPr>
              <a:t>(mm)</a:t>
            </a:r>
            <a:r>
              <a:rPr sz="11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dirty="0">
                <a:latin typeface="Calibri" panose="020F0502020204030204"/>
                <a:cs typeface="Calibri" panose="020F0502020204030204"/>
              </a:rPr>
              <a:t>versus</a:t>
            </a:r>
            <a:r>
              <a:rPr sz="11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dirty="0">
                <a:latin typeface="Calibri" panose="020F0502020204030204"/>
                <a:cs typeface="Calibri" panose="020F0502020204030204"/>
              </a:rPr>
              <a:t>Solution</a:t>
            </a:r>
            <a:r>
              <a:rPr sz="11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dirty="0">
                <a:latin typeface="Calibri" panose="020F0502020204030204"/>
                <a:cs typeface="Calibri" panose="020F0502020204030204"/>
              </a:rPr>
              <a:t>Number</a:t>
            </a:r>
            <a:r>
              <a:rPr sz="11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spc="-10" dirty="0">
                <a:latin typeface="Calibri" panose="020F0502020204030204"/>
                <a:cs typeface="Calibri" panose="020F0502020204030204"/>
              </a:rPr>
              <a:t>(e.g., </a:t>
            </a:r>
            <a:r>
              <a:rPr sz="1100" dirty="0">
                <a:latin typeface="Calibri" panose="020F0502020204030204"/>
                <a:cs typeface="Calibri" panose="020F0502020204030204"/>
              </a:rPr>
              <a:t>mesh</a:t>
            </a:r>
            <a:r>
              <a:rPr sz="11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dirty="0">
                <a:latin typeface="Calibri" panose="020F0502020204030204"/>
                <a:cs typeface="Calibri" panose="020F0502020204030204"/>
              </a:rPr>
              <a:t>size</a:t>
            </a:r>
            <a:r>
              <a:rPr sz="1100" spc="-10" dirty="0">
                <a:latin typeface="Calibri" panose="020F0502020204030204"/>
                <a:cs typeface="Calibri" panose="020F0502020204030204"/>
              </a:rPr>
              <a:t> refinement) </a:t>
            </a:r>
            <a:r>
              <a:rPr sz="1100" dirty="0">
                <a:latin typeface="Calibri" panose="020F0502020204030204"/>
                <a:cs typeface="Calibri" panose="020F0502020204030204"/>
              </a:rPr>
              <a:t>demonstrates</a:t>
            </a:r>
            <a:r>
              <a:rPr sz="11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dirty="0">
                <a:latin typeface="Calibri" panose="020F0502020204030204"/>
                <a:cs typeface="Calibri" panose="020F0502020204030204"/>
              </a:rPr>
              <a:t>that </a:t>
            </a:r>
            <a:r>
              <a:rPr sz="1100" spc="-25" dirty="0">
                <a:latin typeface="Calibri" panose="020F0502020204030204"/>
                <a:cs typeface="Calibri" panose="020F0502020204030204"/>
              </a:rPr>
              <a:t>the </a:t>
            </a:r>
            <a:r>
              <a:rPr sz="1100" dirty="0">
                <a:latin typeface="Calibri" panose="020F0502020204030204"/>
                <a:cs typeface="Calibri" panose="020F0502020204030204"/>
              </a:rPr>
              <a:t>solution</a:t>
            </a:r>
            <a:r>
              <a:rPr sz="11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dirty="0">
                <a:latin typeface="Calibri" panose="020F0502020204030204"/>
                <a:cs typeface="Calibri" panose="020F0502020204030204"/>
              </a:rPr>
              <a:t>is</a:t>
            </a:r>
            <a:r>
              <a:rPr sz="11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dirty="0">
                <a:latin typeface="Calibri" panose="020F0502020204030204"/>
                <a:cs typeface="Calibri" panose="020F0502020204030204"/>
              </a:rPr>
              <a:t>approaching</a:t>
            </a:r>
            <a:r>
              <a:rPr sz="11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dirty="0">
                <a:latin typeface="Calibri" panose="020F0502020204030204"/>
                <a:cs typeface="Calibri" panose="020F0502020204030204"/>
              </a:rPr>
              <a:t>a</a:t>
            </a:r>
            <a:r>
              <a:rPr sz="11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dirty="0">
                <a:latin typeface="Calibri" panose="020F0502020204030204"/>
                <a:cs typeface="Calibri" panose="020F0502020204030204"/>
              </a:rPr>
              <a:t>stable</a:t>
            </a:r>
            <a:r>
              <a:rPr sz="11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dirty="0">
                <a:latin typeface="Calibri" panose="020F0502020204030204"/>
                <a:cs typeface="Calibri" panose="020F0502020204030204"/>
              </a:rPr>
              <a:t>value</a:t>
            </a:r>
            <a:r>
              <a:rPr sz="11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dirty="0">
                <a:latin typeface="Calibri" panose="020F0502020204030204"/>
                <a:cs typeface="Calibri" panose="020F0502020204030204"/>
              </a:rPr>
              <a:t>as</a:t>
            </a:r>
            <a:r>
              <a:rPr sz="11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spc="-25" dirty="0">
                <a:latin typeface="Calibri" panose="020F0502020204030204"/>
                <a:cs typeface="Calibri" panose="020F0502020204030204"/>
              </a:rPr>
              <a:t>the </a:t>
            </a:r>
            <a:r>
              <a:rPr sz="1100" dirty="0">
                <a:latin typeface="Calibri" panose="020F0502020204030204"/>
                <a:cs typeface="Calibri" panose="020F0502020204030204"/>
              </a:rPr>
              <a:t>mesh</a:t>
            </a:r>
            <a:r>
              <a:rPr sz="11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dirty="0">
                <a:latin typeface="Calibri" panose="020F0502020204030204"/>
                <a:cs typeface="Calibri" panose="020F0502020204030204"/>
              </a:rPr>
              <a:t>is</a:t>
            </a:r>
            <a:r>
              <a:rPr sz="11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dirty="0">
                <a:latin typeface="Calibri" panose="020F0502020204030204"/>
                <a:cs typeface="Calibri" panose="020F0502020204030204"/>
              </a:rPr>
              <a:t>refined,</a:t>
            </a:r>
            <a:r>
              <a:rPr sz="11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dirty="0">
                <a:latin typeface="Calibri" panose="020F0502020204030204"/>
                <a:cs typeface="Calibri" panose="020F0502020204030204"/>
              </a:rPr>
              <a:t>indicating</a:t>
            </a:r>
            <a:r>
              <a:rPr sz="11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dirty="0">
                <a:latin typeface="Calibri" panose="020F0502020204030204"/>
                <a:cs typeface="Calibri" panose="020F0502020204030204"/>
              </a:rPr>
              <a:t>the</a:t>
            </a:r>
            <a:r>
              <a:rPr sz="11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dirty="0">
                <a:latin typeface="Calibri" panose="020F0502020204030204"/>
                <a:cs typeface="Calibri" panose="020F0502020204030204"/>
              </a:rPr>
              <a:t>results</a:t>
            </a:r>
            <a:r>
              <a:rPr sz="11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spc="-25" dirty="0">
                <a:latin typeface="Calibri" panose="020F0502020204030204"/>
                <a:cs typeface="Calibri" panose="020F0502020204030204"/>
              </a:rPr>
              <a:t>are</a:t>
            </a:r>
            <a:r>
              <a:rPr lang="en-US" altLang="" sz="11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spc="-10" dirty="0">
                <a:latin typeface="Calibri" panose="020F0502020204030204"/>
                <a:cs typeface="Calibri" panose="020F0502020204030204"/>
              </a:rPr>
              <a:t>reliable.</a:t>
            </a:r>
            <a:endParaRPr sz="110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133600" y="3733799"/>
            <a:ext cx="3245485" cy="26767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Transient</a:t>
            </a:r>
            <a:r>
              <a:rPr spc="-130" dirty="0"/>
              <a:t> </a:t>
            </a:r>
            <a:r>
              <a:rPr spc="-10" dirty="0"/>
              <a:t>Structural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1130604" y="2213584"/>
            <a:ext cx="1957705" cy="13182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41300" marR="5080" indent="-229235">
              <a:lnSpc>
                <a:spcPct val="110000"/>
              </a:lnSpc>
              <a:spcBef>
                <a:spcPts val="110"/>
              </a:spcBef>
              <a:buSzPct val="127000"/>
              <a:buFont typeface="Wingdings" panose="05000000000000000000"/>
              <a:buChar char=""/>
              <a:tabLst>
                <a:tab pos="241300" algn="l"/>
              </a:tabLst>
            </a:pPr>
            <a:r>
              <a:rPr sz="1100" dirty="0">
                <a:latin typeface="Calibri" panose="020F0502020204030204"/>
                <a:cs typeface="Calibri" panose="020F0502020204030204"/>
              </a:rPr>
              <a:t>The</a:t>
            </a:r>
            <a:r>
              <a:rPr sz="11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b="1" dirty="0">
                <a:latin typeface="Calibri" panose="020F0502020204030204"/>
                <a:cs typeface="Calibri" panose="020F0502020204030204"/>
              </a:rPr>
              <a:t>Engineering</a:t>
            </a:r>
            <a:r>
              <a:rPr sz="1100" b="1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b="1" spc="-20" dirty="0">
                <a:latin typeface="Calibri" panose="020F0502020204030204"/>
                <a:cs typeface="Calibri" panose="020F0502020204030204"/>
              </a:rPr>
              <a:t>Data </a:t>
            </a:r>
            <a:r>
              <a:rPr sz="1100" dirty="0">
                <a:latin typeface="Calibri" panose="020F0502020204030204"/>
                <a:cs typeface="Calibri" panose="020F0502020204030204"/>
              </a:rPr>
              <a:t>(material</a:t>
            </a:r>
            <a:r>
              <a:rPr sz="110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spc="-10" dirty="0">
                <a:latin typeface="Calibri" panose="020F0502020204030204"/>
                <a:cs typeface="Calibri" panose="020F0502020204030204"/>
              </a:rPr>
              <a:t>properties)</a:t>
            </a:r>
            <a:r>
              <a:rPr sz="110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spc="-25" dirty="0">
                <a:latin typeface="Calibri" panose="020F0502020204030204"/>
                <a:cs typeface="Calibri" panose="020F0502020204030204"/>
              </a:rPr>
              <a:t>and </a:t>
            </a:r>
            <a:r>
              <a:rPr sz="1100" b="1" dirty="0">
                <a:latin typeface="Calibri" panose="020F0502020204030204"/>
                <a:cs typeface="Calibri" panose="020F0502020204030204"/>
              </a:rPr>
              <a:t>Geometry</a:t>
            </a:r>
            <a:r>
              <a:rPr sz="1100" b="1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dirty="0">
                <a:latin typeface="Calibri" panose="020F0502020204030204"/>
                <a:cs typeface="Calibri" panose="020F0502020204030204"/>
              </a:rPr>
              <a:t>(the</a:t>
            </a:r>
            <a:r>
              <a:rPr sz="11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spc="-10" dirty="0">
                <a:latin typeface="Calibri" panose="020F0502020204030204"/>
                <a:cs typeface="Calibri" panose="020F0502020204030204"/>
              </a:rPr>
              <a:t>hexagonal </a:t>
            </a:r>
            <a:r>
              <a:rPr sz="1100" dirty="0">
                <a:latin typeface="Calibri" panose="020F0502020204030204"/>
                <a:cs typeface="Calibri" panose="020F0502020204030204"/>
              </a:rPr>
              <a:t>shape)</a:t>
            </a:r>
            <a:r>
              <a:rPr sz="11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dirty="0">
                <a:latin typeface="Calibri" panose="020F0502020204030204"/>
                <a:cs typeface="Calibri" panose="020F0502020204030204"/>
              </a:rPr>
              <a:t>from</a:t>
            </a:r>
            <a:r>
              <a:rPr sz="11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dirty="0">
                <a:latin typeface="Calibri" panose="020F0502020204030204"/>
                <a:cs typeface="Calibri" panose="020F0502020204030204"/>
              </a:rPr>
              <a:t>the</a:t>
            </a:r>
            <a:r>
              <a:rPr sz="11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spc="-10" dirty="0">
                <a:latin typeface="Calibri" panose="020F0502020204030204"/>
                <a:cs typeface="Calibri" panose="020F0502020204030204"/>
              </a:rPr>
              <a:t>previous </a:t>
            </a:r>
            <a:r>
              <a:rPr sz="1100" dirty="0">
                <a:latin typeface="Calibri" panose="020F0502020204030204"/>
                <a:cs typeface="Calibri" panose="020F0502020204030204"/>
              </a:rPr>
              <a:t>Static</a:t>
            </a:r>
            <a:r>
              <a:rPr sz="11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dirty="0">
                <a:latin typeface="Calibri" panose="020F0502020204030204"/>
                <a:cs typeface="Calibri" panose="020F0502020204030204"/>
              </a:rPr>
              <a:t>Structural</a:t>
            </a:r>
            <a:r>
              <a:rPr sz="11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dirty="0">
                <a:latin typeface="Calibri" panose="020F0502020204030204"/>
                <a:cs typeface="Calibri" panose="020F0502020204030204"/>
              </a:rPr>
              <a:t>analysis</a:t>
            </a:r>
            <a:r>
              <a:rPr sz="11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spc="-20" dirty="0">
                <a:latin typeface="Calibri" panose="020F0502020204030204"/>
                <a:cs typeface="Calibri" panose="020F0502020204030204"/>
              </a:rPr>
              <a:t>were </a:t>
            </a:r>
            <a:r>
              <a:rPr sz="1100" dirty="0">
                <a:latin typeface="Calibri" panose="020F0502020204030204"/>
                <a:cs typeface="Calibri" panose="020F0502020204030204"/>
              </a:rPr>
              <a:t>connected</a:t>
            </a:r>
            <a:r>
              <a:rPr sz="11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dirty="0">
                <a:latin typeface="Calibri" panose="020F0502020204030204"/>
                <a:cs typeface="Calibri" panose="020F0502020204030204"/>
              </a:rPr>
              <a:t>and</a:t>
            </a:r>
            <a:r>
              <a:rPr sz="11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dirty="0">
                <a:latin typeface="Calibri" panose="020F0502020204030204"/>
                <a:cs typeface="Calibri" panose="020F0502020204030204"/>
              </a:rPr>
              <a:t>used</a:t>
            </a:r>
            <a:r>
              <a:rPr sz="11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dirty="0">
                <a:latin typeface="Calibri" panose="020F0502020204030204"/>
                <a:cs typeface="Calibri" panose="020F0502020204030204"/>
              </a:rPr>
              <a:t>for</a:t>
            </a:r>
            <a:r>
              <a:rPr sz="11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spc="-25" dirty="0">
                <a:latin typeface="Calibri" panose="020F0502020204030204"/>
                <a:cs typeface="Calibri" panose="020F0502020204030204"/>
              </a:rPr>
              <a:t>the </a:t>
            </a:r>
            <a:r>
              <a:rPr sz="1100" spc="-10" dirty="0">
                <a:latin typeface="Calibri" panose="020F0502020204030204"/>
                <a:cs typeface="Calibri" panose="020F0502020204030204"/>
              </a:rPr>
              <a:t>time-</a:t>
            </a:r>
            <a:r>
              <a:rPr sz="1100" dirty="0">
                <a:latin typeface="Calibri" panose="020F0502020204030204"/>
                <a:cs typeface="Calibri" panose="020F0502020204030204"/>
              </a:rPr>
              <a:t>dependent</a:t>
            </a:r>
            <a:r>
              <a:rPr sz="11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spc="-10" dirty="0">
                <a:latin typeface="Calibri" panose="020F0502020204030204"/>
                <a:cs typeface="Calibri" panose="020F0502020204030204"/>
              </a:rPr>
              <a:t>study.</a:t>
            </a:r>
            <a:endParaRPr sz="11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30604" y="4578858"/>
            <a:ext cx="2354580" cy="108140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241300" marR="5080" indent="-229235">
              <a:lnSpc>
                <a:spcPct val="96000"/>
              </a:lnSpc>
              <a:spcBef>
                <a:spcPts val="155"/>
              </a:spcBef>
              <a:buSzPct val="117000"/>
              <a:buFont typeface="Wingdings" panose="05000000000000000000"/>
              <a:buChar char=""/>
              <a:tabLst>
                <a:tab pos="241300" algn="l"/>
              </a:tabLst>
            </a:pPr>
            <a:r>
              <a:rPr sz="120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12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force</a:t>
            </a:r>
            <a:r>
              <a:rPr sz="12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281.5</a:t>
            </a:r>
            <a:r>
              <a:rPr sz="12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12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was</a:t>
            </a:r>
            <a:r>
              <a:rPr sz="12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applied.</a:t>
            </a:r>
            <a:r>
              <a:rPr sz="1200" spc="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This</a:t>
            </a:r>
            <a:r>
              <a:rPr lang="en-US" altLang=""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force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altLang="" sz="1200" spc="-25" dirty="0"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applied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across</a:t>
            </a:r>
            <a:r>
              <a:rPr sz="12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six</a:t>
            </a:r>
            <a:r>
              <a:rPr sz="1200" b="1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spc="-20" dirty="0">
                <a:latin typeface="Times New Roman" panose="02020603050405020304"/>
                <a:cs typeface="Times New Roman" panose="02020603050405020304"/>
              </a:rPr>
              <a:t>faces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2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hexagon.</a:t>
            </a:r>
            <a:r>
              <a:rPr sz="12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simulation</a:t>
            </a:r>
            <a:r>
              <a:rPr sz="1200" spc="5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ran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with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12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time</a:t>
            </a:r>
            <a:r>
              <a:rPr sz="12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interval</a:t>
            </a:r>
            <a:r>
              <a:rPr sz="12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spc="-25" dirty="0">
                <a:latin typeface="Times New Roman" panose="02020603050405020304"/>
                <a:cs typeface="Times New Roman" panose="02020603050405020304"/>
              </a:rPr>
              <a:t>0.2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seconds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12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12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total</a:t>
            </a:r>
            <a:r>
              <a:rPr sz="12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time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2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1.2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seconds.</a:t>
            </a:r>
            <a:endParaRPr sz="120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5" name="object 5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375350" y="1938931"/>
            <a:ext cx="3786213" cy="178412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00450" y="4593971"/>
            <a:ext cx="3569970" cy="166242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604" y="926337"/>
            <a:ext cx="364934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SzPct val="127000"/>
              <a:buFont typeface="Wingdings" panose="05000000000000000000"/>
              <a:buChar char=""/>
              <a:tabLst>
                <a:tab pos="241300" algn="l"/>
              </a:tabLst>
            </a:pPr>
            <a:r>
              <a:rPr sz="1100" dirty="0">
                <a:latin typeface="Calibri" panose="020F0502020204030204"/>
                <a:cs typeface="Calibri" panose="020F0502020204030204"/>
              </a:rPr>
              <a:t>Generated</a:t>
            </a:r>
            <a:r>
              <a:rPr sz="11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dirty="0">
                <a:latin typeface="Calibri" panose="020F0502020204030204"/>
                <a:cs typeface="Calibri" panose="020F0502020204030204"/>
              </a:rPr>
              <a:t>graph</a:t>
            </a:r>
            <a:r>
              <a:rPr sz="11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dirty="0">
                <a:latin typeface="Calibri" panose="020F0502020204030204"/>
                <a:cs typeface="Calibri" panose="020F0502020204030204"/>
              </a:rPr>
              <a:t>after</a:t>
            </a:r>
            <a:r>
              <a:rPr sz="11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dirty="0">
                <a:latin typeface="Calibri" panose="020F0502020204030204"/>
                <a:cs typeface="Calibri" panose="020F0502020204030204"/>
              </a:rPr>
              <a:t>solving</a:t>
            </a:r>
            <a:r>
              <a:rPr sz="11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dirty="0">
                <a:latin typeface="Calibri" panose="020F0502020204030204"/>
                <a:cs typeface="Calibri" panose="020F0502020204030204"/>
              </a:rPr>
              <a:t>applied</a:t>
            </a:r>
            <a:r>
              <a:rPr sz="11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dirty="0">
                <a:latin typeface="Calibri" panose="020F0502020204030204"/>
                <a:cs typeface="Calibri" panose="020F0502020204030204"/>
              </a:rPr>
              <a:t>force</a:t>
            </a:r>
            <a:r>
              <a:rPr sz="11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dirty="0">
                <a:latin typeface="Calibri" panose="020F0502020204030204"/>
                <a:cs typeface="Calibri" panose="020F0502020204030204"/>
              </a:rPr>
              <a:t>in</a:t>
            </a:r>
            <a:r>
              <a:rPr sz="11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dirty="0">
                <a:latin typeface="Calibri" panose="020F0502020204030204"/>
                <a:cs typeface="Calibri" panose="020F0502020204030204"/>
              </a:rPr>
              <a:t>tabular</a:t>
            </a:r>
            <a:r>
              <a:rPr sz="11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spc="-10" dirty="0">
                <a:latin typeface="Calibri" panose="020F0502020204030204"/>
                <a:cs typeface="Calibri" panose="020F0502020204030204"/>
              </a:rPr>
              <a:t>form.</a:t>
            </a:r>
            <a:endParaRPr sz="11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30604" y="2530829"/>
            <a:ext cx="1898014" cy="94043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241300" marR="5080" indent="-229235">
              <a:lnSpc>
                <a:spcPct val="110000"/>
              </a:lnSpc>
              <a:spcBef>
                <a:spcPts val="85"/>
              </a:spcBef>
              <a:buSzPct val="127000"/>
              <a:buFont typeface="Wingdings" panose="05000000000000000000"/>
              <a:buChar char=""/>
              <a:tabLst>
                <a:tab pos="241300" algn="l"/>
              </a:tabLst>
            </a:pPr>
            <a:r>
              <a:rPr sz="1100" dirty="0">
                <a:latin typeface="Calibri" panose="020F0502020204030204"/>
                <a:cs typeface="Calibri" panose="020F0502020204030204"/>
              </a:rPr>
              <a:t>A</a:t>
            </a:r>
            <a:r>
              <a:rPr sz="11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dirty="0">
                <a:latin typeface="Calibri" panose="020F0502020204030204"/>
                <a:cs typeface="Calibri" panose="020F0502020204030204"/>
              </a:rPr>
              <a:t>graph</a:t>
            </a:r>
            <a:r>
              <a:rPr sz="11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dirty="0">
                <a:latin typeface="Calibri" panose="020F0502020204030204"/>
                <a:cs typeface="Calibri" panose="020F0502020204030204"/>
              </a:rPr>
              <a:t>showing</a:t>
            </a:r>
            <a:r>
              <a:rPr sz="11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dirty="0">
                <a:latin typeface="Calibri" panose="020F0502020204030204"/>
                <a:cs typeface="Calibri" panose="020F0502020204030204"/>
              </a:rPr>
              <a:t>the</a:t>
            </a:r>
            <a:r>
              <a:rPr sz="11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spc="-20" dirty="0">
                <a:latin typeface="Calibri" panose="020F0502020204030204"/>
                <a:cs typeface="Calibri" panose="020F0502020204030204"/>
              </a:rPr>
              <a:t>time- </a:t>
            </a:r>
            <a:r>
              <a:rPr sz="1100" dirty="0">
                <a:latin typeface="Calibri" panose="020F0502020204030204"/>
                <a:cs typeface="Calibri" panose="020F0502020204030204"/>
              </a:rPr>
              <a:t>varying</a:t>
            </a:r>
            <a:r>
              <a:rPr sz="11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dirty="0">
                <a:latin typeface="Calibri" panose="020F0502020204030204"/>
                <a:cs typeface="Calibri" panose="020F0502020204030204"/>
              </a:rPr>
              <a:t>results</a:t>
            </a:r>
            <a:r>
              <a:rPr sz="11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dirty="0">
                <a:latin typeface="Calibri" panose="020F0502020204030204"/>
                <a:cs typeface="Calibri" panose="020F0502020204030204"/>
              </a:rPr>
              <a:t>and</a:t>
            </a:r>
            <a:r>
              <a:rPr sz="11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dirty="0">
                <a:latin typeface="Calibri" panose="020F0502020204030204"/>
                <a:cs typeface="Calibri" panose="020F0502020204030204"/>
              </a:rPr>
              <a:t>a</a:t>
            </a:r>
            <a:r>
              <a:rPr sz="11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b="1" spc="-10" dirty="0">
                <a:latin typeface="Calibri" panose="020F0502020204030204"/>
                <a:cs typeface="Calibri" panose="020F0502020204030204"/>
              </a:rPr>
              <a:t>Tabular </a:t>
            </a:r>
            <a:r>
              <a:rPr sz="1100" b="1" dirty="0">
                <a:latin typeface="Calibri" panose="020F0502020204030204"/>
                <a:cs typeface="Calibri" panose="020F0502020204030204"/>
              </a:rPr>
              <a:t>Data</a:t>
            </a:r>
            <a:r>
              <a:rPr sz="1100" b="1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dirty="0">
                <a:latin typeface="Calibri" panose="020F0502020204030204"/>
                <a:cs typeface="Calibri" panose="020F0502020204030204"/>
              </a:rPr>
              <a:t>table</a:t>
            </a:r>
            <a:r>
              <a:rPr sz="11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dirty="0">
                <a:latin typeface="Calibri" panose="020F0502020204030204"/>
                <a:cs typeface="Calibri" panose="020F0502020204030204"/>
              </a:rPr>
              <a:t>of</a:t>
            </a:r>
            <a:r>
              <a:rPr sz="1100" spc="-10" dirty="0">
                <a:latin typeface="Calibri" panose="020F0502020204030204"/>
                <a:cs typeface="Calibri" panose="020F0502020204030204"/>
              </a:rPr>
              <a:t> minimum, </a:t>
            </a:r>
            <a:r>
              <a:rPr sz="1100" dirty="0">
                <a:latin typeface="Calibri" panose="020F0502020204030204"/>
                <a:cs typeface="Calibri" panose="020F0502020204030204"/>
              </a:rPr>
              <a:t>maximum,</a:t>
            </a:r>
            <a:r>
              <a:rPr sz="11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dirty="0">
                <a:latin typeface="Calibri" panose="020F0502020204030204"/>
                <a:cs typeface="Calibri" panose="020F0502020204030204"/>
              </a:rPr>
              <a:t>and</a:t>
            </a:r>
            <a:r>
              <a:rPr sz="11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spc="-10" dirty="0">
                <a:latin typeface="Calibri" panose="020F0502020204030204"/>
                <a:cs typeface="Calibri" panose="020F0502020204030204"/>
              </a:rPr>
              <a:t>average</a:t>
            </a:r>
            <a:r>
              <a:rPr sz="1100" spc="500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dirty="0">
                <a:latin typeface="Calibri" panose="020F0502020204030204"/>
                <a:cs typeface="Calibri" panose="020F0502020204030204"/>
              </a:rPr>
              <a:t>stress</a:t>
            </a:r>
            <a:r>
              <a:rPr sz="11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dirty="0">
                <a:latin typeface="Calibri" panose="020F0502020204030204"/>
                <a:cs typeface="Calibri" panose="020F0502020204030204"/>
              </a:rPr>
              <a:t>values</a:t>
            </a:r>
            <a:r>
              <a:rPr sz="11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lang="en-US" altLang="" sz="1100" spc="-25" dirty="0">
                <a:latin typeface="Calibri" panose="020F0502020204030204"/>
                <a:cs typeface="Calibri" panose="020F0502020204030204"/>
              </a:rPr>
              <a:t>is </a:t>
            </a:r>
            <a:r>
              <a:rPr sz="1100" spc="-10" dirty="0">
                <a:latin typeface="Calibri" panose="020F0502020204030204"/>
                <a:cs typeface="Calibri" panose="020F0502020204030204"/>
              </a:rPr>
              <a:t>generated.</a:t>
            </a:r>
            <a:endParaRPr sz="11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5204" y="5069840"/>
            <a:ext cx="1891664" cy="732790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266700" marR="30480" indent="-229235">
              <a:lnSpc>
                <a:spcPct val="96000"/>
              </a:lnSpc>
              <a:spcBef>
                <a:spcPts val="160"/>
              </a:spcBef>
              <a:buSzPct val="117000"/>
              <a:buFont typeface="Wingdings" panose="05000000000000000000"/>
              <a:buChar char=""/>
              <a:tabLst>
                <a:tab pos="266700" algn="l"/>
              </a:tabLst>
            </a:pPr>
            <a:r>
              <a:rPr sz="12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2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maximum</a:t>
            </a:r>
            <a:r>
              <a:rPr sz="12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Equivalent (von-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Mises)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Stress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at</a:t>
            </a:r>
            <a:r>
              <a:rPr sz="12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final</a:t>
            </a:r>
            <a:r>
              <a:rPr sz="12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time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(t=1.2s)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was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0.015838</a:t>
            </a:r>
            <a:r>
              <a:rPr sz="1200" b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spc="-20" dirty="0">
                <a:latin typeface="Times New Roman" panose="02020603050405020304"/>
                <a:cs typeface="Times New Roman" panose="02020603050405020304"/>
              </a:rPr>
              <a:t>MPa</a:t>
            </a:r>
            <a:r>
              <a:rPr sz="1200" spc="-30" baseline="31000" dirty="0">
                <a:latin typeface="Times New Roman" panose="02020603050405020304"/>
                <a:cs typeface="Times New Roman" panose="02020603050405020304"/>
              </a:rPr>
              <a:t>.</a:t>
            </a:r>
            <a:endParaRPr sz="1200" baseline="3100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5" name="object 5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142614" y="4850003"/>
            <a:ext cx="4406900" cy="2183130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3105150" y="1177925"/>
            <a:ext cx="4495800" cy="2769235"/>
            <a:chOff x="3105150" y="1177925"/>
            <a:chExt cx="4495800" cy="276923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05150" y="1177925"/>
              <a:ext cx="4495800" cy="159004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62300" y="2546858"/>
              <a:ext cx="4134484" cy="140017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604" y="1777719"/>
            <a:ext cx="1383665" cy="397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9235">
              <a:lnSpc>
                <a:spcPct val="111000"/>
              </a:lnSpc>
              <a:spcBef>
                <a:spcPts val="100"/>
              </a:spcBef>
              <a:buSzPct val="127000"/>
              <a:buFont typeface="Wingdings" panose="05000000000000000000"/>
              <a:buChar char=""/>
              <a:tabLst>
                <a:tab pos="241300" algn="l"/>
              </a:tabLst>
            </a:pPr>
            <a:r>
              <a:rPr sz="1100" dirty="0">
                <a:latin typeface="Calibri" panose="020F0502020204030204"/>
                <a:cs typeface="Calibri" panose="020F0502020204030204"/>
              </a:rPr>
              <a:t>The</a:t>
            </a:r>
            <a:r>
              <a:rPr sz="11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dirty="0">
                <a:latin typeface="Calibri" panose="020F0502020204030204"/>
                <a:cs typeface="Calibri" panose="020F0502020204030204"/>
              </a:rPr>
              <a:t>maximum</a:t>
            </a:r>
            <a:r>
              <a:rPr sz="11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100" spc="-20" dirty="0">
                <a:latin typeface="Calibri" panose="020F0502020204030204"/>
                <a:cs typeface="Calibri" panose="020F0502020204030204"/>
              </a:rPr>
              <a:t>Total </a:t>
            </a:r>
            <a:r>
              <a:rPr sz="1100" spc="-10" dirty="0">
                <a:latin typeface="Calibri" panose="020F0502020204030204"/>
                <a:cs typeface="Calibri" panose="020F0502020204030204"/>
              </a:rPr>
              <a:t>Deformation</a:t>
            </a:r>
            <a:endParaRPr sz="110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181350" y="1129030"/>
            <a:ext cx="4381500" cy="209740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1682</Words>
  <Application>WPS Presentation</Application>
  <PresentationFormat>On-screen Show (4:3)</PresentationFormat>
  <Paragraphs>52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8" baseType="lpstr">
      <vt:lpstr>Arial</vt:lpstr>
      <vt:lpstr>SimSun</vt:lpstr>
      <vt:lpstr>Wingdings</vt:lpstr>
      <vt:lpstr>Calibri</vt:lpstr>
      <vt:lpstr>Times New Roman</vt:lpstr>
      <vt:lpstr>Calibri Light</vt:lpstr>
      <vt:lpstr>Wingdings</vt:lpstr>
      <vt:lpstr>Symbol</vt:lpstr>
      <vt:lpstr>Microsoft YaHei</vt:lpstr>
      <vt:lpstr>Arial Unicode MS</vt:lpstr>
      <vt:lpstr>Office Theme</vt:lpstr>
      <vt:lpstr>National University Of Sciences and Technology</vt:lpstr>
      <vt:lpstr>Static Structural</vt:lpstr>
      <vt:lpstr>PowerPoint 演示文稿</vt:lpstr>
      <vt:lpstr>PowerPoint 演示文稿</vt:lpstr>
      <vt:lpstr>Transient Structural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National University Of Sciences and Technology</dc:title>
  <dc:creator>Zohaib ALI</dc:creator>
  <cp:lastModifiedBy>Del</cp:lastModifiedBy>
  <cp:revision>2</cp:revision>
  <dcterms:created xsi:type="dcterms:W3CDTF">2025-12-04T18:17:17Z</dcterms:created>
  <dcterms:modified xsi:type="dcterms:W3CDTF">2025-12-04T18:29:39Z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2025-12-04T05:00:00Z</vt:filetime>
  </property>
  <property fmtid="{D5CDD505-2E9C-101B-9397-08002B2CF9AE}" pid="3" name="Creator">
    <vt:lpwstr>Microsoft® Word 2016</vt:lpwstr>
  </property>
  <property fmtid="{D5CDD505-2E9C-101B-9397-08002B2CF9AE}" pid="4" name="LastSaved">
    <vt:filetime>2025-12-04T05:00:00Z</vt:filetime>
  </property>
  <property fmtid="{D5CDD505-2E9C-101B-9397-08002B2CF9AE}" pid="5" name="Producer">
    <vt:lpwstr>www.ilovepdf.com</vt:lpwstr>
  </property>
  <property fmtid="{D5CDD505-2E9C-101B-9397-08002B2CF9AE}" pid="6" name="ICV">
    <vt:lpwstr>4D91A29020434269959987E11F87B0B0_12</vt:lpwstr>
  </property>
  <property fmtid="{D5CDD505-2E9C-101B-9397-08002B2CF9AE}" pid="7" name="KSOProductBuildVer">
    <vt:lpwstr>1033-12.2.0.23131</vt:lpwstr>
  </property>
</Properties>
</file>